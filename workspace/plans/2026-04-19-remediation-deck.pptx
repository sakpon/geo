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DENT  ·  BANGKOK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801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A8C8C"/>
                </a:solidFill>
                <a:latin typeface="Calibri"/>
              </a:rPr>
              <a:t>SEO &amp; GEO AGENCY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91640"/>
            <a:ext cx="7132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E5C5C"/>
                </a:solidFill>
                <a:latin typeface="Calibri"/>
              </a:rPr>
              <a:t>thedent.co.th</a:t>
            </a:r>
          </a:p>
          <a:p>
            <a:pPr algn="l"/>
            <a:r>
              <a:rPr sz="4000" b="1" i="0">
                <a:solidFill>
                  <a:srgbClr val="0E5C5C"/>
                </a:solidFill>
                <a:latin typeface="Calibri"/>
              </a:rPr>
              <a:t>Remediation Report &amp;</a:t>
            </a:r>
          </a:p>
          <a:p>
            <a:pPr algn="l"/>
            <a:r>
              <a:rPr sz="4000" b="1" i="0">
                <a:solidFill>
                  <a:srgbClr val="0E5C5C"/>
                </a:solidFill>
                <a:latin typeface="Calibri"/>
              </a:rPr>
              <a:t>90-Day Action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4206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2331"/>
                </a:solidFill>
                <a:latin typeface="Calibri"/>
              </a:rPr>
              <a:t>Restoring crawlability and building durable SEO + AI-search visibility.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5120640"/>
            <a:ext cx="6949440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52578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75"/>
                </a:solidFill>
                <a:latin typeface="Calibri"/>
              </a:rPr>
              <a:t>Prepared by   ·   SEO &amp; GEO Agency (Agent Orchestra)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53212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75"/>
                </a:solidFill>
                <a:latin typeface="Calibri"/>
              </a:rPr>
              <a:t>Date              ·   2026-04-19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806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96A4D"/>
                </a:solidFill>
                <a:latin typeface="Calibri"/>
              </a:rPr>
              <a:t>Status           ·   Action required — site currently uncrawlable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01  ·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The site is currently invisible to search and AI engines.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4206240" cy="42062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26B"/>
                </a:solidFill>
                <a:latin typeface="Calibri"/>
              </a:rPr>
              <a:t>HTTP STATUS RETURNED TO CRAWLERS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0" b="1" i="0">
                <a:solidFill>
                  <a:srgbClr val="FFFFFF"/>
                </a:solidFill>
                <a:latin typeface="Calibri"/>
              </a:rPr>
              <a:t>403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26B"/>
                </a:solidFill>
                <a:latin typeface="Consolas"/>
              </a:rPr>
              <a:t>host_not_allowed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Homepage, www, robots.txt, sitemap.xml, and llms.txt all blocked at the 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A8C8C"/>
                </a:solidFill>
                <a:latin typeface="Calibri"/>
              </a:rPr>
              <a:t>WHAT THIS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65960"/>
            <a:ext cx="67665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2331"/>
                </a:solidFill>
                <a:latin typeface="Calibri"/>
              </a:rPr>
              <a:t>•  Google cannot crawl or refresh the site — ranked pages will drop out of the index.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331"/>
                </a:solidFill>
                <a:latin typeface="Calibri"/>
              </a:rPr>
              <a:t>•  ChatGPT, Perplexity, Google AI Overviews, Gemini, and Claude cannot read the site at query time — the clinic is excluded from AI answers.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2331"/>
                </a:solidFill>
                <a:latin typeface="Calibri"/>
              </a:rPr>
              <a:t>•  Every other on-page or content issue is invisible behind this block and cannot be diagnosed until crawlers can reach the 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5029200"/>
            <a:ext cx="6766560" cy="11887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5029200"/>
            <a:ext cx="109728" cy="118872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5120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6A4D"/>
                </a:solidFill>
                <a:latin typeface="Calibri"/>
              </a:rPr>
              <a:t>MOST URGENT ACTION (TODAY)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544068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Remove the host_not_allowed edge rule and verify</a:t>
            </a:r>
          </a:p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curl -I https://thedent.co.th/  returns HTTP 200 for both a browser and a Googlebot user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02  · 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A two-stage program: unblock, then build.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420624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64008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 1  ·  EMERGENCY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Restore crawlability (Days 0–7)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Remove edge block; site returns 200 to all crawlers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Publish working robots.txt, sitemap.xml, and llms.txt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Resubmit to Google Search Console and Bing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Allowlist major AI-engine crawlers explicitly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Capture a baseline crawl + AI-citation snapshot once reachable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83080"/>
            <a:ext cx="5486400" cy="420624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64008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 2  ·  BUILD-OUT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Foundations to citations (Weeks 2–13)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69748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Phase 1 — technical SEO, schema, local + Core Web Vitals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Phase 2 — E-E-A-T (doctor profiles, reviewer signals) + content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Phase 3 — entity footprint, GEO scale, durable measurement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Outcome — indexed, optimized, and reliably cited by AI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675"/>
                </a:solidFill>
                <a:latin typeface="Calibri"/>
              </a:rPr>
              <a:t>Every Phase 1–3 task assumes Stage 1 is complete. Without crawlability, the rest is unmeasurable.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03  · 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Crawlability — every key URL is denied at the edge.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4572000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91640"/>
            <a:ext cx="2377440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1691640"/>
            <a:ext cx="2157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691640"/>
            <a:ext cx="4297680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1691640"/>
            <a:ext cx="40782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45720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194560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onsolas"/>
              </a:rPr>
              <a:t>https://thedent.co.th/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194560"/>
            <a:ext cx="237744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194560"/>
            <a:ext cx="2157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96A4D"/>
                </a:solidFill>
                <a:latin typeface="Consolas"/>
              </a:rPr>
              <a:t>403 host_not_allowed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2194560"/>
            <a:ext cx="429768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194560"/>
            <a:ext cx="40782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Homepage uncrawlable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9748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697480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onsolas"/>
              </a:rPr>
              <a:t>https://www.thedent.co.th/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69748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648" y="2697480"/>
            <a:ext cx="2157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96A4D"/>
                </a:solidFill>
                <a:latin typeface="Consolas"/>
              </a:rPr>
              <a:t>403 host_not_allowed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2697480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2697480"/>
            <a:ext cx="40782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www variant uncrawlable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0400"/>
            <a:ext cx="45720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200400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onsolas"/>
              </a:rPr>
              <a:t>https://thedent.co.th/robots.txt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3200400"/>
            <a:ext cx="237744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4648" y="3200400"/>
            <a:ext cx="2157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96A4D"/>
                </a:solidFill>
                <a:latin typeface="Consolas"/>
              </a:rPr>
              <a:t>403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00400"/>
            <a:ext cx="429768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3200400"/>
            <a:ext cx="40782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Google treats as "unreachable" — crawl slows / stops if &gt;30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3703320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onsolas"/>
              </a:rPr>
              <a:t>https://thedent.co.th/sitemap.xml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370332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3703320"/>
            <a:ext cx="2157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96A4D"/>
                </a:solidFill>
                <a:latin typeface="Consolas"/>
              </a:rPr>
              <a:t>403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3703320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3703320"/>
            <a:ext cx="40782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No URL discovery aid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06240"/>
            <a:ext cx="45720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206240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onsolas"/>
              </a:rPr>
              <a:t>https://thedent.co.th/llms.txt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4206240"/>
            <a:ext cx="237744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84648" y="4206240"/>
            <a:ext cx="21579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96A4D"/>
                </a:solidFill>
                <a:latin typeface="Consolas"/>
              </a:rPr>
              <a:t>403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4206240"/>
            <a:ext cx="429768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62088" y="4206240"/>
            <a:ext cx="40782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No AI-engine site map — likely doesn't exist yet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92040"/>
            <a:ext cx="11183112" cy="13716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892040"/>
            <a:ext cx="109728" cy="137160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0292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DIAGNOSIS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349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An origin / edge host-allowlist (CDN host rule, reverse-proxy server_name, or origin firewall) rejects general traffic before</a:t>
            </a:r>
          </a:p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any application logic runs. The block is indiscriminate, not bot-specific. TLS/HTTP2 and DNS are healthy — recovery is near-instant once the rule is corrected.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04  ·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Left unfixed, citation visibility decays to zero.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120640" cy="45720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5C5C"/>
                </a:solidFill>
                <a:latin typeface="Calibri"/>
              </a:rPr>
              <a:t>SEO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331"/>
                </a:solidFill>
                <a:latin typeface="Calibri"/>
              </a:rPr>
              <a:t>Indexation + measurement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754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Persistent 403s → deindexing of ranked pages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New / updated pages will not be discovered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PageSpeed, Lighthouse, and crawler audits cannot run against a 403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2331"/>
                </a:solidFill>
                <a:latin typeface="Calibri"/>
              </a:rPr>
              <a:t>•  Silent duration unknown — third-party allowlisted monitors may have missed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691640"/>
            <a:ext cx="5852160" cy="45720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26B"/>
                </a:solidFill>
                <a:latin typeface="Calibri"/>
              </a:rPr>
              <a:t>GEO  ·  CITATION-EXTINCTION TIMELINE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331720"/>
            <a:ext cx="109728" cy="91440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26B"/>
                </a:solidFill>
                <a:latin typeface="Calibri"/>
              </a:rPr>
              <a:t>T + 0–4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517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Cached snapshots in Bing/Google/Common Crawl still surface; existing training data still references the 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520440"/>
            <a:ext cx="109728" cy="91440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5204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26B"/>
                </a:solidFill>
                <a:latin typeface="Calibri"/>
              </a:rPr>
              <a:t>T + 1–3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8404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Caches expire. Engines that re-verify before citing (Perplexity, ChatGPT browsing) silently drop the clinic.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709160"/>
            <a:ext cx="109728" cy="91440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7091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26B"/>
                </a:solidFill>
                <a:latin typeface="Calibri"/>
              </a:rPr>
              <a:t>T + 6 months+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0292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Next-gen training corpora (fresh GPTBot/CCBot crawls) lack the site entirely. Open-crawl competitors take the citation slots.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05  · 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Foundations that are already healthy.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57600" cy="201168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201168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HTTPS / HTTP-2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Configured and negotiating cleanly. No protocol-level concerns.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657600" cy="201168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109728" cy="201168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23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Resolves to a single clean A record (210.246.201.242). No split-horizon issues.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1783080"/>
            <a:ext cx="3657600" cy="201168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1783080"/>
            <a:ext cx="109728" cy="201168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Structured deny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423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Fast, headered (x-deny-reason). Easy to diagnose, near-instant to undo.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06240"/>
            <a:ext cx="11183112" cy="18288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8C8C"/>
                </a:solidFill>
                <a:latin typeface="Calibri"/>
              </a:rPr>
              <a:t>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Stage 1 recovery should be measured in hours, not weeks. The hard work is everything that comes after —</a:t>
            </a:r>
          </a:p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rebuilding indexation, schema, local presence, E-E-A-T signals, and the entity footprint that drives AI citations.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06  ·  PLAN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The 90-day plan at a glance.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41148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Wkickoff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63159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23398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40518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83638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43877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60997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4116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4356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1476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24595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84835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01955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45074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05313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22433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65553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825792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642912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675"/>
                </a:solidFill>
                <a:latin typeface="Calibri"/>
              </a:rPr>
              <a:t>W12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686032" y="1828800"/>
            <a:ext cx="0" cy="411480"/>
          </a:xfrm>
          <a:prstGeom prst="line">
            <a:avLst/>
          </a:prstGeom>
          <a:ln w="6350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" y="1874520"/>
            <a:ext cx="860239" cy="32004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1947672"/>
            <a:ext cx="677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P0  Emergency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63159" y="1874520"/>
            <a:ext cx="2580718" cy="3200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54599" y="1947672"/>
            <a:ext cx="23978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P1  Technical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43877" y="1874520"/>
            <a:ext cx="3440958" cy="32004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5317" y="1947672"/>
            <a:ext cx="32580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P2  E-E-A-T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4835" y="1874520"/>
            <a:ext cx="4301197" cy="320040"/>
          </a:xfrm>
          <a:prstGeom prst="rect">
            <a:avLst/>
          </a:prstGeom>
          <a:solidFill>
            <a:srgbClr val="6E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6275" y="1947672"/>
            <a:ext cx="41183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P3  Entity &amp; GEO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291840"/>
            <a:ext cx="2697480" cy="2743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291840"/>
            <a:ext cx="2697480" cy="45720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0  ·  Days 0–7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Emergency unblock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2062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331"/>
                </a:solidFill>
                <a:latin typeface="Calibri"/>
              </a:rPr>
              <a:t>Site returns 200 to crawlers. Baseline measurement becomes possible.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9272" y="3291840"/>
            <a:ext cx="2697480" cy="2743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19272" y="3291840"/>
            <a:ext cx="269748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02152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  ·  Weeks 2–5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2152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Technical &amp; local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152" y="42062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331"/>
                </a:solidFill>
                <a:latin typeface="Calibri"/>
              </a:rPr>
              <a:t>Clean, indexable, schema-rich, locally-optimized site — once crawlers can read it.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35624" y="3291840"/>
            <a:ext cx="2697480" cy="2743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35624" y="3291840"/>
            <a:ext cx="2697480" cy="45720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8504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2  ·  Weeks 5–9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8504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E-E-A-T &amp; content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8504" y="42062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331"/>
                </a:solidFill>
                <a:latin typeface="Calibri"/>
              </a:rPr>
              <a:t>Medical-grade trust signals plus the first wave of citation-shaped pillars.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51976" y="3291840"/>
            <a:ext cx="2697480" cy="2743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51976" y="3291840"/>
            <a:ext cx="2697480" cy="457200"/>
          </a:xfrm>
          <a:prstGeom prst="rect">
            <a:avLst/>
          </a:prstGeom>
          <a:solidFill>
            <a:srgbClr val="6E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34856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3  ·  Weeks 9–13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5C5C"/>
                </a:solidFill>
                <a:latin typeface="Calibri"/>
              </a:rPr>
              <a:t>Entity &amp; GEO scale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4856" y="42062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331"/>
                </a:solidFill>
                <a:latin typeface="Calibri"/>
              </a:rPr>
              <a:t>LLMs reliably recognize and cite the clinic. Durable monthly measurement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07–10  ·  PHASE 0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PHASE 0 — Emergency unblock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183112" cy="50292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Days 0–7   ·   GOAL: Site returns 200 to all crawlers; baseline measurement becomes 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6400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860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286000"/>
            <a:ext cx="65836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2860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2286000"/>
            <a:ext cx="182880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2860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286000"/>
            <a:ext cx="2130552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22860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517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65176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26517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Locate and remove the host_not_allowed edge / WAF / origin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65176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6517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65176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26517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0175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01752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2728" y="30175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Ensure robots.txt returns 200 (serve as static, outside gated path)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80" y="30175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0175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301752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30175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8328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338328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338328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2728" y="338328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Ensure sitemap.xml returns 200 and is current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338328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6408" y="33832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338328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338328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74904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374904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374904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52728" y="374904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Publish AI-bot-friendly robots.txt (allow major answer engines)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80" y="37490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36408" y="374904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DevOps + GEO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374904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5208" y="374904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11480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" y="41148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411480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52728" y="41148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Publish initial llms.txt at root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36408" y="41148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GEO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411480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65208" y="41148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8056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4480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448056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52728" y="44805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GSC: URL Inspection live test; resubmit sitemap; request indexing of top 10 URLs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80" y="44805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36408" y="44805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448056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65208" y="44805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84632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48463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484632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52728" y="48463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Bing Webmaster Tools: submit sitemap (powers Copilot / ChatGPT retrieval)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80" y="484632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36408" y="48463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484632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65208" y="48463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21208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" y="521208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43000" y="521208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52728" y="521208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Add a synthetic Googlebot-UA probe to monitoring (external IP)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26680" y="521208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36408" y="52120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DevOps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55480" y="521208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65208" y="521208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57784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8" y="557784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0.9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557784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52728" y="557784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Baseline: full crawl audit + tracked-query battery across ChatGPT/Perplexity/AIO/Gemini/Claude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26680" y="557784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36408" y="557784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 + GEO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55480" y="557784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65208" y="557784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6035040"/>
            <a:ext cx="11183112" cy="77724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2920" y="6035040"/>
            <a:ext cx="109728" cy="77724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96A4D"/>
                </a:solidFill>
                <a:latin typeface="Calibri"/>
              </a:rPr>
              <a:t>EXIT CRITERIA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6400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All key URLs return 200; sitemap + robots + llms.txt live; GSC fetching successfully; baseline audits captured.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07–10  ·  PHASE 1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PHASE 1 — Technical &amp; local foundations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8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183112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Weeks 2–5   ·   GOAL: Clean, indexable, schema-rich, locally-optimized 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6400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860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286000"/>
            <a:ext cx="65836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2860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2286000"/>
            <a:ext cx="182880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2860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286000"/>
            <a:ext cx="2130552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22860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517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65176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26517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Full on-page audit: titles, meta, H-structure, canonicals, hreflang TH↔EN, alt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65176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6517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65176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26517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0175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01752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2728" y="30175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Fix canonical + hreflang pairing across all TH/EN equivalents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80" y="30175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0175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 + Dev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301752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30175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8328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338328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338328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2728" y="338328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Core Web Vitals pass: LCP &lt;2.5s, INP &lt;200ms, CLS &lt;0.1 on mobile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338328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6408" y="33832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338328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338328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96A4D"/>
                </a:solidFill>
                <a:latin typeface="Calibri"/>
              </a:rPr>
              <a:t>L 1–3w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74904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374904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374904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52728" y="374904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Site-wide schema: MedicalClinic/Dentist, Organization + sameAs, BreadcrumbList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80" y="37490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36408" y="374904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 + Dev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374904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5208" y="374904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11480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" y="41148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411480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52728" y="41148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Per-service-page MedicalProcedure schema (howPerformed, preparation, followup)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36408" y="41148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 + Dev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411480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65208" y="41148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8056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4480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448056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52728" y="44805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Google Business Profile per branch + NAP consistency audit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80" y="44805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36408" y="44805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448056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65208" y="44805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84632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48463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484632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52728" y="48463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Local citations cleanup across Thai + medical-tourism directories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80" y="484632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36408" y="48463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484632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65208" y="48463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21208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" y="521208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43000" y="521208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52728" y="521208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Internal-link graph: eliminate orphan service pages; pillar↔supporting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26680" y="521208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36408" y="52120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 + Content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55480" y="521208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65208" y="521208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57784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8" y="557784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1.9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557784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52728" y="557784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Fix any noindex / X-Robots-Tag leakage; confirm clean response headers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26680" y="557784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36408" y="557784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Dev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55480" y="557784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65208" y="557784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6035040"/>
            <a:ext cx="11183112" cy="77724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2920" y="6035040"/>
            <a:ext cx="109728" cy="7772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5C5C"/>
                </a:solidFill>
                <a:latin typeface="Calibri"/>
              </a:rPr>
              <a:t>EXIT CRITERIA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6400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Zero P0/P1 technical issues open; schema validates; CWV "Good"; GBP complete per branch; no orphan service pages.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07–10  ·  PHASE 2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PHASE 2 — E-E-A-T &amp; content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183112" cy="50292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Weeks 5–9   ·   GOAL: Medical-grade trust signals + first wave of citation-shaped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6400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860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286000"/>
            <a:ext cx="65836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2860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2286000"/>
            <a:ext cx="182880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2860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286000"/>
            <a:ext cx="2130552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22860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517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65176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26517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Doctor profile pages with Person schema (credentials, worksFor, sameAs)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65176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6517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Content + SEO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65176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26517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0175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01752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2728" y="30175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Add reviewer byline + reviewedBy + visible lastReviewed date to all YMYL pages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80" y="30175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0175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301752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30175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8328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338328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338328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2728" y="338328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Confirm clinic facts (services, prices, brands stocked, branches) — unblocks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338328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6408" y="33832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Client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338328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338328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74904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374904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374904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52728" y="374904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Publish priority-cluster pillar + supporting content via brief→draft→review→revise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80" y="37490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36408" y="374904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Planner→Creator→SEO+GEO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374904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5208" y="374904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96A4D"/>
                </a:solidFill>
                <a:latin typeface="Calibri"/>
              </a:rPr>
              <a:t>L 1–3w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11480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" y="41148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411480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52728" y="41148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Convert top revenue pages to citation shape (answer-first, Q-H2s, tables, FAQ)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36408" y="41148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Creator + GEO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411480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65208" y="41148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96A4D"/>
                </a:solidFill>
                <a:latin typeface="Calibri"/>
              </a:rPr>
              <a:t>L 1–3w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8056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4480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448056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52728" y="44805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Wire FAQPage schema to every Q&amp;A block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80" y="44805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36408" y="44805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SEO + Dev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448056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65208" y="44805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84632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48463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2.7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484632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52728" y="48463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Begin Thai-language adaptations (native-speaker reviewed) of best EN pieces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80" y="484632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36408" y="48463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Creator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484632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65208" y="48463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303520"/>
            <a:ext cx="11183112" cy="77724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02920" y="5303520"/>
            <a:ext cx="109728" cy="777240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3949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EXIT CRITERIA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Doctor profiles live; YMYL pages carry reviewer signals; one citation-optimized pillar live per top cluster; sample implant-cost guide finalized.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07–10  ·  PHASE 3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PHASE 3 — Entity footprint, GEO scale &amp;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183112" cy="502920"/>
          </a:xfrm>
          <a:prstGeom prst="rect">
            <a:avLst/>
          </a:prstGeom>
          <a:solidFill>
            <a:srgbClr val="6E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Weeks 9–13   ·   GOAL: LLMs reliably recognize and cite the clinic; durable measurement loop established.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6400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860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286000"/>
            <a:ext cx="658368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2860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2286000"/>
            <a:ext cx="1828800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2860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286000"/>
            <a:ext cx="2130552" cy="36576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5208" y="22860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517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65176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26517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File Wikidata entry (Organization + sameAs to GBP, LinkedIn, FB, IG)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65176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6517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GEO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65176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5208" y="26517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0175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01752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2728" y="30175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Consistent entity profile across DentaVox, WhatClinic, Dental Departures, Bookimed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80" y="30175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0175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GEO +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301752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30175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8328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338328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338328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52728" y="338328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Publish llms-full.txt with condensed high-value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338328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6408" y="33832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GEO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338328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338328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74904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374904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374904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52728" y="374904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Original-data asset (e.g. anonymized 2025 price ranges / brand mix)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26680" y="37490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36408" y="374904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GEO + Client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374904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5208" y="374904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11480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" y="411480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411480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52728" y="411480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Drive Perplexity / AIO discovery via social signals to key pages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36408" y="411480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Marketing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411480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65208" y="41148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A8C8C"/>
                </a:solidFill>
                <a:latin typeface="Calibri"/>
              </a:rPr>
              <a:t>S ≤1d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80560"/>
            <a:ext cx="640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4480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4480560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52728" y="448056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Monthly tracked-query battery (top 20 questions, TH+EN) → citation share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80" y="44805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36408" y="44805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GEO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4480560"/>
            <a:ext cx="21305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65208" y="448056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846320"/>
            <a:ext cx="6400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484632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3.7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4846320"/>
            <a:ext cx="658368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52728" y="4846320"/>
            <a:ext cx="6364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1A2331"/>
                </a:solidFill>
                <a:latin typeface="Calibri"/>
              </a:rPr>
              <a:t>Quarterly roadmap: convert audit deltas into next content calendar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80" y="4846320"/>
            <a:ext cx="1828800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36408" y="484632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675"/>
                </a:solidFill>
                <a:latin typeface="Calibri"/>
              </a:rPr>
              <a:t>Planner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4846320"/>
            <a:ext cx="2130552" cy="36576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65208" y="484632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C26B"/>
                </a:solidFill>
                <a:latin typeface="Calibri"/>
              </a:rPr>
              <a:t>M 2–5d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303520"/>
            <a:ext cx="11183112" cy="77724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02920" y="5303520"/>
            <a:ext cx="109728" cy="777240"/>
          </a:xfrm>
          <a:prstGeom prst="rect">
            <a:avLst/>
          </a:prstGeom>
          <a:solidFill>
            <a:srgbClr val="6E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3949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A8A8"/>
                </a:solidFill>
                <a:latin typeface="Calibri"/>
              </a:rPr>
              <a:t>EXIT CRITERIA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331"/>
                </a:solidFill>
                <a:latin typeface="Calibri"/>
              </a:rPr>
              <a:t>Wikidata + directory entity consistency live; llms-full.txt published; first original-data asset live; monthly AI-citation tracking running with delta.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11  · 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What success looks like at Day 30, 60, 90.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84048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219456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6916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Baseline (today)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691640"/>
            <a:ext cx="169164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916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169164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916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691640"/>
            <a:ext cx="1764792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0968" y="16916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384048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1488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Crawlable URLs (HTTP 200)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1488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1488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~0% (403)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1488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21488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1488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21488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148840"/>
            <a:ext cx="176479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21488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60604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6060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Pages indexed (GSC)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26060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26060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Unknown / decaying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6060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6060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Recovering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6060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26060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Back to pre-block + new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2606040"/>
            <a:ext cx="1764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30968" y="26060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Growth trend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063240"/>
            <a:ext cx="384048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30632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Service pages with valid schema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30632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3128" y="30632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30632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7688" y="30632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Core types live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0632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30632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All service pages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21240" y="3063240"/>
            <a:ext cx="176479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30968" y="30632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All pages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52044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5204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Branches with complete GBP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35204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3128" y="35204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TBD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35204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47688" y="35204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Audited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5204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9328" y="35204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Complete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21240" y="3520440"/>
            <a:ext cx="1764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30968" y="35204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Optimized + posting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977640"/>
            <a:ext cx="384048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9776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YMYL pages with reviewer signals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39776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53128" y="39776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~0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9776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47688" y="39776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Template live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9776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8" y="39776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50%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21240" y="3977640"/>
            <a:ext cx="176479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30968" y="39776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43484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4348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Citation-optimized pillars published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43400" y="44348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53128" y="44348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0 (1 draft)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44348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47688" y="44348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4348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39328" y="44348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21240" y="4434840"/>
            <a:ext cx="1764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30968" y="44348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5 (one per cluster)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892040"/>
            <a:ext cx="384048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8920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AI-citation share (tracked queries)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43400" y="48920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53128" y="48920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~0 (unreachable)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60" y="48920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47688" y="48920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Baseline set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4892040"/>
            <a:ext cx="1691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39328" y="48920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First citations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21240" y="4892040"/>
            <a:ext cx="176479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30968" y="48920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Measurable share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534924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349240"/>
            <a:ext cx="3621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E5C5C"/>
                </a:solidFill>
                <a:latin typeface="Calibri"/>
              </a:rPr>
              <a:t>Core Web Vitals (mobile)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43400" y="53492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53128" y="53492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Unmeasurable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37960" y="53492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47688" y="53492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Measured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0" y="5349240"/>
            <a:ext cx="1691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39328" y="5349240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Improving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21240" y="5349240"/>
            <a:ext cx="1764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030968" y="5349240"/>
            <a:ext cx="1545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A2331"/>
                </a:solidFill>
                <a:latin typeface="Calibri"/>
              </a:rPr>
              <a:t>All "Good"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585216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675"/>
                </a:solidFill>
                <a:latin typeface="Calibri"/>
              </a:rPr>
              <a:t>Review cadence: weekly during Phase 0–1; bi-weekly during Phase 2–3. Monthly KPI report to client.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12  ·  DEPENDENCIES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What could slow us down — and how we mitigate it.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12064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Dependency /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691640"/>
            <a:ext cx="2194560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16916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691640"/>
            <a:ext cx="3867912" cy="4572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16916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48840"/>
            <a:ext cx="5120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1488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DevOps access to CDN / WAF / origin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21488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33288" y="21488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E96A4D"/>
                </a:solidFill>
                <a:latin typeface="Calibri"/>
              </a:rPr>
              <a:t>Blocks everything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2148840"/>
            <a:ext cx="386791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1488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Escalate today; Phase 0 cannot start without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060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6060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Client confirmation of services / prices / brands / branches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26060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33288" y="26060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E96A4D"/>
                </a:solidFill>
                <a:latin typeface="Calibri"/>
              </a:rPr>
              <a:t>Blocks content (P2)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606040"/>
            <a:ext cx="38679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26060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Collect in week 1, in parallel with Phase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63240"/>
            <a:ext cx="5120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0632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Search Console + GA4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30632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33288" y="30632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E96A4D"/>
                </a:solidFill>
                <a:latin typeface="Calibri"/>
              </a:rPr>
              <a:t>Blocks measurement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3063240"/>
            <a:ext cx="386791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0632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Request access now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35204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Thai native-speaker review capacity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5204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33288" y="35204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E96A4D"/>
                </a:solidFill>
                <a:latin typeface="Calibri"/>
              </a:rPr>
              <a:t>Blocks TH publishing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520440"/>
            <a:ext cx="38679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35204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Identify reviewer in week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977640"/>
            <a:ext cx="512064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39776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Doctor credentials + photos for bylines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60" y="3977640"/>
            <a:ext cx="2194560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33288" y="39776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E96A4D"/>
                </a:solidFill>
                <a:latin typeface="Calibri"/>
              </a:rPr>
              <a:t>Blocks E-E-A-T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977640"/>
            <a:ext cx="3867912" cy="45720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39776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Collect during Phase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4348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44348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The 403 recurs after fix (config not durable)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443484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33288" y="4434840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E96A4D"/>
                </a:solidFill>
                <a:latin typeface="Calibri"/>
              </a:rPr>
              <a:t>Re-extinction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4434840"/>
            <a:ext cx="38679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7848" y="4434840"/>
            <a:ext cx="3648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Synthetic Googlebot probe + static robots.txt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13  · 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Five moves to start right now.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" cy="5486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810512"/>
            <a:ext cx="1371600" cy="310896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8105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3736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Remove the host_not_allowed edge rule; verify HTTP 200 for browser + Googlebot + GPTBot. (today)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32888"/>
            <a:ext cx="548640" cy="5486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328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2651760"/>
            <a:ext cx="1371600" cy="310896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65176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DEVOPS + GEO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78608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Publish corrected robots.txt, sitemap.xml, and llms.txt. (Day 0–1)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74136"/>
            <a:ext cx="548640" cy="5486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741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3493008"/>
            <a:ext cx="1371600" cy="310896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4930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19856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Resubmit sitemap and request reindexing in Google Search Console + Bing. (Day 1–2)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15384"/>
            <a:ext cx="548640" cy="5486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153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4334256"/>
            <a:ext cx="1371600" cy="310896"/>
          </a:xfrm>
          <a:prstGeom prst="rect">
            <a:avLst/>
          </a:prstGeom>
          <a:solidFill>
            <a:srgbClr val="F5C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3342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61104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Start compiling confirmed services, prices, implant / aligner brands, branches, doctor credentials. (week 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56632"/>
            <a:ext cx="548640" cy="54864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5663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5175504"/>
            <a:ext cx="1371600" cy="310896"/>
          </a:xfrm>
          <a:prstGeom prst="rect">
            <a:avLst/>
          </a:prstGeom>
          <a:solidFill>
            <a:srgbClr val="6E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17550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SEO + GEO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02352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A2331"/>
                </a:solidFill>
                <a:latin typeface="Calibri"/>
              </a:rPr>
              <a:t>Capture baseline crawl audit + AI tracked-query battery once the site is reachable. (Day 3–5)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8C8C"/>
                </a:solidFill>
                <a:latin typeface="Calibri"/>
              </a:rPr>
              <a:t>14  · 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5C5C"/>
                </a:solidFill>
                <a:latin typeface="Calibri"/>
              </a:rPr>
              <a:t>Who does what across the program.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25880"/>
            <a:ext cx="11183112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Calibri"/>
              </a:rPr>
              <a:t>thedent.co.th  ·  SEO &amp; GEO Remediation  ·  2026-04-19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01968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675"/>
                </a:solidFill>
                <a:latin typeface="Calibri"/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828800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691640"/>
            <a:ext cx="7680960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69164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Primary responsibilities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0" y="1691640"/>
            <a:ext cx="1673352" cy="50292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2408" y="169164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18288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19456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194560"/>
            <a:ext cx="768096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1448" y="219456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Approve facts (services, prices, brands, doctor credentials, branches); grant GSC/GA4 access; sign-off content.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2194560"/>
            <a:ext cx="1673352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22408" y="219456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974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69748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DevOps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69748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41448" y="269748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Remove edge block, manage robots/sitemap/llms.txt, fix CWV, deploy schema, run synthetic crawler probe.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2697480"/>
            <a:ext cx="16733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22408" y="269748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P0–P1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0400"/>
            <a:ext cx="18288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20040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SEO expert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3200400"/>
            <a:ext cx="768096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320040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Audits, on-page and local SEO, schema design, internal links, GBP optimization, KPI tracking.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3200400"/>
            <a:ext cx="1673352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320040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370332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GEO expert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370332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370332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Crawler-allowlist policy, llms.txt/llms-full.txt, entity footprint, citation-shape requirements, AI-citation monitoring.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703320"/>
            <a:ext cx="16733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2408" y="370332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06240"/>
            <a:ext cx="18288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20624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Content planner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4206240"/>
            <a:ext cx="768096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41448" y="420624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Cluster map, keyword registry, calendar, briefs, backlog prioritization.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12680" y="4206240"/>
            <a:ext cx="1673352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22408" y="420624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P2–P3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091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470916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Content creator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470916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41448" y="470916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Drafts and revises copy in TH + EN; executes briefs from planner with SEO + GEO requirements.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709160"/>
            <a:ext cx="16733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22408" y="470916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P2–P3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212080"/>
            <a:ext cx="182880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" y="5212080"/>
            <a:ext cx="16093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5C5C"/>
                </a:solidFill>
                <a:latin typeface="Calibri"/>
              </a:rPr>
              <a:t>Native-speaker reviewer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31720" y="5212080"/>
            <a:ext cx="7680960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41448" y="5212080"/>
            <a:ext cx="74615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2331"/>
                </a:solidFill>
                <a:latin typeface="Calibri"/>
              </a:rPr>
              <a:t>Reviews all Thai-language copy before publish.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5212080"/>
            <a:ext cx="1673352" cy="502920"/>
          </a:xfrm>
          <a:prstGeom prst="rect">
            <a:avLst/>
          </a:prstGeom>
          <a:solidFill>
            <a:srgbClr val="F4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22408" y="5212080"/>
            <a:ext cx="1453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A8C8C"/>
                </a:solidFill>
                <a:latin typeface="Calibri"/>
              </a:rPr>
              <a:t>P2–P3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E9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DENT  ·  BANGKOK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C26B"/>
                </a:solidFill>
                <a:latin typeface="Calibri"/>
              </a:rPr>
              <a:t>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SEO &amp; GEO</a:t>
            </a:r>
          </a:p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Agent Orchestra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A8C8C"/>
                </a:solidFill>
                <a:latin typeface="Calibri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7132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E5C5C"/>
                </a:solidFill>
                <a:latin typeface="Calibri"/>
              </a:rPr>
              <a:t>Clear the block.</a:t>
            </a:r>
          </a:p>
          <a:p>
            <a:pPr algn="l"/>
            <a:r>
              <a:rPr sz="4000" b="1" i="0">
                <a:solidFill>
                  <a:srgbClr val="0E5C5C"/>
                </a:solidFill>
                <a:latin typeface="Calibri"/>
              </a:rPr>
              <a:t>Then we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918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2331"/>
                </a:solidFill>
                <a:latin typeface="Calibri"/>
              </a:rPr>
              <a:t>Once thedent.co.th returns 200 to crawlers, the 90-day plan executes on schedule.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4114800"/>
            <a:ext cx="6949440" cy="0"/>
          </a:xfrm>
          <a:prstGeom prst="line">
            <a:avLst/>
          </a:prstGeom>
          <a:ln w="9525">
            <a:solidFill>
              <a:srgbClr val="D9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3440" y="42519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A8C8C"/>
                </a:solidFill>
                <a:latin typeface="Calibri"/>
              </a:rPr>
              <a:t>Deliverables already in workspace/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57200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A2331"/>
                </a:solidFill>
                <a:latin typeface="Calibri"/>
              </a:rPr>
              <a:t>•  plans/2026-04-19-remediation-report-90day-plan.md — the long-form report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2331"/>
                </a:solidFill>
                <a:latin typeface="Calibri"/>
              </a:rPr>
              <a:t>•  seo-audits/2026-04-19-thedent-live-audit.md — live SEO findings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2331"/>
                </a:solidFill>
                <a:latin typeface="Calibri"/>
              </a:rPr>
              <a:t>•  geo-audits/2026-04-19-thedent-live-audit.md — live GEO findings + ready-to-paste robots.txt + llms.txt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2331"/>
                </a:solidFill>
                <a:latin typeface="Calibri"/>
              </a:rPr>
              <a:t>•  content/en/dental-implants-cost-bangkok-2026.md — sample citation-shaped pillar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2331"/>
                </a:solidFill>
                <a:latin typeface="Calibri"/>
              </a:rPr>
              <a:t>•  plans/calendar-2026-W17.md — example weekly editorial calendar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